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1" r:id="rId7"/>
    <p:sldId id="276" r:id="rId8"/>
    <p:sldId id="260" r:id="rId9"/>
    <p:sldId id="271" r:id="rId10"/>
    <p:sldId id="272" r:id="rId11"/>
    <p:sldId id="273" r:id="rId12"/>
    <p:sldId id="265" r:id="rId13"/>
    <p:sldId id="264" r:id="rId14"/>
    <p:sldId id="267" r:id="rId15"/>
    <p:sldId id="268" r:id="rId16"/>
    <p:sldId id="269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</a:t>
            </a:r>
            <a:r>
              <a:rPr lang="en-IN" dirty="0"/>
              <a:t>RAVEL BUDDY</a:t>
            </a:r>
            <a:r>
              <a:rPr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>
                <a:solidFill>
                  <a:schemeClr val="tx1"/>
                </a:solidFill>
              </a:rPr>
              <a:t>Mediator between travel companies and travellers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F9651-D0DA-6994-01A0-12F5EC80EB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E424-8B64-9F81-FBB8-8424030CB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r>
              <a:rPr lang="en-US" dirty="0"/>
              <a:t>TECH FEST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B3F49-281F-70C9-B373-B65A9B33C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839825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Sampada </a:t>
            </a:r>
            <a:r>
              <a:rPr lang="en-IN" dirty="0" err="1">
                <a:solidFill>
                  <a:schemeClr val="tx1"/>
                </a:solidFill>
              </a:rPr>
              <a:t>Kalbande</a:t>
            </a:r>
            <a:endParaRPr lang="en-IN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Ankita </a:t>
            </a:r>
            <a:r>
              <a:rPr lang="en-IN" dirty="0" err="1">
                <a:solidFill>
                  <a:schemeClr val="tx1"/>
                </a:solidFill>
              </a:rPr>
              <a:t>Bharambe</a:t>
            </a:r>
            <a:endParaRPr lang="en-IN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Vaishnavi Kale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tx1"/>
                </a:solidFill>
              </a:rPr>
              <a:t>Pruthviraj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 err="1">
                <a:solidFill>
                  <a:schemeClr val="tx1"/>
                </a:solidFill>
              </a:rPr>
              <a:t>Dhale</a:t>
            </a:r>
            <a:endParaRPr lang="en-IN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9877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lang="en-IN" dirty="0"/>
              <a:t>Travel buddy application </a:t>
            </a:r>
            <a:r>
              <a:rPr dirty="0"/>
              <a:t>efficiently manages</a:t>
            </a:r>
            <a:r>
              <a:rPr lang="en-IN" dirty="0"/>
              <a:t> the need of travellers and travel companies by connecting them with each other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B49B9-EFC0-CD11-6B6D-A2AB0CFC4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Self planning trip is time consuming and not guided by experts.</a:t>
            </a:r>
          </a:p>
          <a:p>
            <a:r>
              <a:rPr lang="en-IN" dirty="0"/>
              <a:t>Travel companies have perfect itinerary but lacks customers. 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9AE60-0D9D-41CA-0F8F-EC51230E49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Overview</a:t>
            </a:r>
            <a:br>
              <a:rPr lang="en-US" b="1" dirty="0"/>
            </a:b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51B69-2FC5-5806-468F-E011CE9A97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4B86D94-5C19-D9A5-9DAF-D2EBC76CB3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68449"/>
            <a:ext cx="726737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Web-based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Travel Buddy Application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Designed to </a:t>
            </a:r>
            <a:r>
              <a:rPr lang="en-US" altLang="en-US" sz="1800" dirty="0">
                <a:latin typeface="+mj-lt"/>
              </a:rPr>
              <a:t>solve the problem of </a:t>
            </a:r>
            <a:r>
              <a:rPr lang="en-US" altLang="en-US" sz="1800" dirty="0" err="1">
                <a:latin typeface="+mj-lt"/>
              </a:rPr>
              <a:t>traveller</a:t>
            </a:r>
            <a:r>
              <a:rPr lang="en-US" altLang="en-US" sz="1800" dirty="0">
                <a:latin typeface="+mj-lt"/>
              </a:rPr>
              <a:t> and travel company.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Eliminates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manual and paper-based itinerary planning.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multiple user roles: Travel company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traveller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Travel companies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 package and add trips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 err="1">
                <a:latin typeface="+mj-lt"/>
              </a:rPr>
              <a:t>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ravellers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view package, trips, book trip online, and give feedback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Built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React (Frontend), Spring Boot (Backend), MySQL (Database)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Follows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microservices architecture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RESTful APIs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scalability, security, and data integrity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efficiency, transparency, and user experience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Users &amp;</a:t>
            </a:r>
            <a:r>
              <a:rPr lang="en-IN" dirty="0"/>
              <a:t> Use cases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2CE42-EB8E-8E9B-D788-18C63BE0E6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C02C20-F741-EE78-782F-8A9F624B5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 Traveller Module</a:t>
            </a:r>
          </a:p>
          <a:p>
            <a:r>
              <a:rPr lang="en-IN" b="1" dirty="0"/>
              <a:t>1</a:t>
            </a:r>
            <a:r>
              <a:rPr lang="en-IN" dirty="0"/>
              <a:t> – Account Creation Process</a:t>
            </a:r>
          </a:p>
          <a:p>
            <a:r>
              <a:rPr lang="en-IN" b="1" dirty="0"/>
              <a:t>2</a:t>
            </a:r>
            <a:r>
              <a:rPr lang="en-IN" dirty="0"/>
              <a:t> – Login Process</a:t>
            </a:r>
          </a:p>
          <a:p>
            <a:r>
              <a:rPr lang="en-IN" b="1" dirty="0"/>
              <a:t>3</a:t>
            </a:r>
            <a:r>
              <a:rPr lang="en-IN" dirty="0"/>
              <a:t> – Forgot Password Process</a:t>
            </a:r>
          </a:p>
          <a:p>
            <a:r>
              <a:rPr lang="en-IN" b="1" dirty="0"/>
              <a:t>4</a:t>
            </a:r>
            <a:r>
              <a:rPr lang="en-IN" dirty="0"/>
              <a:t> – Change Password Process</a:t>
            </a:r>
          </a:p>
          <a:p>
            <a:r>
              <a:rPr lang="en-IN" b="1" dirty="0"/>
              <a:t>5</a:t>
            </a:r>
            <a:r>
              <a:rPr lang="en-IN" dirty="0"/>
              <a:t> – Search Tour Packages</a:t>
            </a:r>
          </a:p>
          <a:p>
            <a:r>
              <a:rPr lang="en-IN" b="1" dirty="0"/>
              <a:t>6</a:t>
            </a:r>
            <a:r>
              <a:rPr lang="en-IN" dirty="0"/>
              <a:t> – View Trip</a:t>
            </a:r>
          </a:p>
          <a:p>
            <a:r>
              <a:rPr lang="en-IN" b="1" dirty="0"/>
              <a:t>7</a:t>
            </a:r>
            <a:r>
              <a:rPr lang="en-IN" dirty="0"/>
              <a:t> – Book Trip</a:t>
            </a:r>
          </a:p>
          <a:p>
            <a:r>
              <a:rPr lang="en-IN" b="1" dirty="0"/>
              <a:t>8</a:t>
            </a:r>
            <a:r>
              <a:rPr lang="en-IN" dirty="0"/>
              <a:t> – Cancel Trip</a:t>
            </a:r>
          </a:p>
          <a:p>
            <a:r>
              <a:rPr lang="en-IN" b="1" dirty="0"/>
              <a:t>9</a:t>
            </a:r>
            <a:r>
              <a:rPr lang="en-IN" dirty="0"/>
              <a:t> – Give Feedback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1A78-420A-7DE8-7220-B6D184B1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45E2E-B44A-4A38-DB15-472D5713F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2. Travel Company Module</a:t>
            </a:r>
          </a:p>
          <a:p>
            <a:r>
              <a:rPr lang="en-IN" b="1" dirty="0"/>
              <a:t>1</a:t>
            </a:r>
            <a:r>
              <a:rPr lang="en-IN" dirty="0"/>
              <a:t> –Registration</a:t>
            </a:r>
          </a:p>
          <a:p>
            <a:r>
              <a:rPr lang="en-IN" b="1" dirty="0"/>
              <a:t>2</a:t>
            </a:r>
            <a:r>
              <a:rPr lang="en-IN" dirty="0"/>
              <a:t> – Login Process</a:t>
            </a:r>
          </a:p>
          <a:p>
            <a:r>
              <a:rPr lang="en-IN" b="1" dirty="0"/>
              <a:t>3</a:t>
            </a:r>
            <a:r>
              <a:rPr lang="en-IN" dirty="0"/>
              <a:t>– Forgot Password Process</a:t>
            </a:r>
          </a:p>
          <a:p>
            <a:r>
              <a:rPr lang="en-IN" b="1" dirty="0"/>
              <a:t>4</a:t>
            </a:r>
            <a:r>
              <a:rPr lang="en-IN" dirty="0"/>
              <a:t> – Change Password Process</a:t>
            </a:r>
          </a:p>
          <a:p>
            <a:r>
              <a:rPr lang="en-IN" b="1" dirty="0"/>
              <a:t>5</a:t>
            </a:r>
            <a:r>
              <a:rPr lang="en-IN" dirty="0"/>
              <a:t> – Update Account Details</a:t>
            </a:r>
          </a:p>
          <a:p>
            <a:r>
              <a:rPr lang="en-IN" b="1" dirty="0"/>
              <a:t>6 </a:t>
            </a:r>
            <a:r>
              <a:rPr lang="en-IN" dirty="0"/>
              <a:t>– Add Package</a:t>
            </a:r>
          </a:p>
          <a:p>
            <a:r>
              <a:rPr lang="en-IN" b="1" dirty="0"/>
              <a:t>7</a:t>
            </a:r>
            <a:r>
              <a:rPr lang="en-IN" dirty="0"/>
              <a:t> – Update Package</a:t>
            </a:r>
          </a:p>
          <a:p>
            <a:r>
              <a:rPr lang="en-IN" b="1" dirty="0"/>
              <a:t>8</a:t>
            </a:r>
            <a:r>
              <a:rPr lang="en-IN" dirty="0"/>
              <a:t> – Delete Package</a:t>
            </a:r>
          </a:p>
          <a:p>
            <a:r>
              <a:rPr lang="en-IN" b="1" dirty="0"/>
              <a:t>9</a:t>
            </a:r>
            <a:r>
              <a:rPr lang="en-IN" dirty="0"/>
              <a:t> – Add Trip</a:t>
            </a:r>
          </a:p>
          <a:p>
            <a:r>
              <a:rPr lang="en-IN" b="1" dirty="0"/>
              <a:t>10</a:t>
            </a:r>
            <a:r>
              <a:rPr lang="en-IN" dirty="0"/>
              <a:t>– View Booking</a:t>
            </a:r>
          </a:p>
          <a:p>
            <a:r>
              <a:rPr lang="en-IN" b="1" dirty="0"/>
              <a:t>11</a:t>
            </a:r>
            <a:r>
              <a:rPr lang="en-IN" dirty="0"/>
              <a:t> – View Feedback</a:t>
            </a:r>
          </a:p>
          <a:p>
            <a:r>
              <a:rPr lang="en-IN" b="1" dirty="0"/>
              <a:t>12</a:t>
            </a:r>
            <a:r>
              <a:rPr lang="en-IN" dirty="0"/>
              <a:t> – View Complaint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373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</a:t>
            </a:r>
            <a:r>
              <a:rPr lang="en-IN" dirty="0"/>
              <a:t>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584D6-A3ED-D324-DFC7-27A193C91B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  <p:pic>
        <p:nvPicPr>
          <p:cNvPr id="5" name="Picture 4" descr="ProjectArchitecture.png">
            <a:extLst>
              <a:ext uri="{FF2B5EF4-FFF2-40B4-BE49-F238E27FC236}">
                <a16:creationId xmlns:a16="http://schemas.microsoft.com/office/drawing/2014/main" id="{EC15E815-37C6-C238-169B-4E2AB0179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337" y="1672047"/>
            <a:ext cx="4299243" cy="43494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F32977-E4F3-F412-186C-3BFDCB25A957}"/>
              </a:ext>
            </a:extLst>
          </p:cNvPr>
          <p:cNvSpPr txBox="1"/>
          <p:nvPr/>
        </p:nvSpPr>
        <p:spPr>
          <a:xfrm>
            <a:off x="395536" y="332656"/>
            <a:ext cx="3565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/>
              <a:t>Project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799625-61E4-E5C6-F9D9-CD9A3F41B2F8}"/>
              </a:ext>
            </a:extLst>
          </p:cNvPr>
          <p:cNvSpPr/>
          <p:nvPr/>
        </p:nvSpPr>
        <p:spPr>
          <a:xfrm>
            <a:off x="302936" y="1076981"/>
            <a:ext cx="2944429" cy="4587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4D7AC-2818-5942-4777-91E30B658265}"/>
              </a:ext>
            </a:extLst>
          </p:cNvPr>
          <p:cNvSpPr/>
          <p:nvPr/>
        </p:nvSpPr>
        <p:spPr>
          <a:xfrm>
            <a:off x="3214664" y="1076981"/>
            <a:ext cx="4379794" cy="45870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810260-6AC0-BF48-3D16-B20D1652772F}"/>
              </a:ext>
            </a:extLst>
          </p:cNvPr>
          <p:cNvSpPr/>
          <p:nvPr/>
        </p:nvSpPr>
        <p:spPr>
          <a:xfrm>
            <a:off x="7600093" y="1076981"/>
            <a:ext cx="1476983" cy="45870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B9AF79-5524-CE5E-4A6A-4F4563835B91}"/>
              </a:ext>
            </a:extLst>
          </p:cNvPr>
          <p:cNvSpPr txBox="1"/>
          <p:nvPr/>
        </p:nvSpPr>
        <p:spPr>
          <a:xfrm>
            <a:off x="251520" y="1146230"/>
            <a:ext cx="993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/>
              <a:t>Front End</a:t>
            </a:r>
            <a:endParaRPr lang="en-IN" sz="1600" i="1" u="sn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D4F6CB-BEE1-AC27-4F49-3B0194076A10}"/>
              </a:ext>
            </a:extLst>
          </p:cNvPr>
          <p:cNvSpPr txBox="1"/>
          <p:nvPr/>
        </p:nvSpPr>
        <p:spPr>
          <a:xfrm>
            <a:off x="403920" y="2010326"/>
            <a:ext cx="22148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Using HTML,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Bootstrap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React Js components</a:t>
            </a:r>
            <a:endParaRPr lang="en-IN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0D959-49BE-BF3A-DEAA-52B2D9A4178B}"/>
              </a:ext>
            </a:extLst>
          </p:cNvPr>
          <p:cNvSpPr txBox="1"/>
          <p:nvPr/>
        </p:nvSpPr>
        <p:spPr>
          <a:xfrm>
            <a:off x="1332313" y="1124744"/>
            <a:ext cx="14037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Web server </a:t>
            </a:r>
          </a:p>
          <a:p>
            <a:r>
              <a:rPr lang="en-US" sz="1600" dirty="0"/>
              <a:t>running on </a:t>
            </a:r>
          </a:p>
          <a:p>
            <a:r>
              <a:rPr lang="en-US" sz="1600" dirty="0"/>
              <a:t>localhost:3000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028F1-F97F-0968-EA05-E53FEE110B38}"/>
              </a:ext>
            </a:extLst>
          </p:cNvPr>
          <p:cNvSpPr txBox="1"/>
          <p:nvPr/>
        </p:nvSpPr>
        <p:spPr>
          <a:xfrm>
            <a:off x="3635896" y="1146230"/>
            <a:ext cx="23696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/>
              <a:t>Middle tier with </a:t>
            </a:r>
          </a:p>
          <a:p>
            <a:r>
              <a:rPr lang="en-US" sz="1600" i="1" u="sng"/>
              <a:t>Microservices architecture</a:t>
            </a:r>
            <a:endParaRPr lang="en-IN" sz="1600" i="1" u="sn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42AD91-7183-E54B-7F19-0444A21CE0B3}"/>
              </a:ext>
            </a:extLst>
          </p:cNvPr>
          <p:cNvSpPr/>
          <p:nvPr/>
        </p:nvSpPr>
        <p:spPr>
          <a:xfrm>
            <a:off x="3412136" y="1916832"/>
            <a:ext cx="2095968" cy="2808312"/>
          </a:xfrm>
          <a:prstGeom prst="rect">
            <a:avLst/>
          </a:prstGeom>
          <a:solidFill>
            <a:srgbClr val="F4E3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Discovery service</a:t>
            </a:r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API Gateway</a:t>
            </a:r>
          </a:p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Business services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Can 12">
            <a:extLst>
              <a:ext uri="{FF2B5EF4-FFF2-40B4-BE49-F238E27FC236}">
                <a16:creationId xmlns:a16="http://schemas.microsoft.com/office/drawing/2014/main" id="{F269C652-D679-425F-3A20-A5C7E6415729}"/>
              </a:ext>
            </a:extLst>
          </p:cNvPr>
          <p:cNvSpPr/>
          <p:nvPr/>
        </p:nvSpPr>
        <p:spPr>
          <a:xfrm>
            <a:off x="7776499" y="2492896"/>
            <a:ext cx="1064565" cy="12161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MySQL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B7C070-29F7-3EDB-8163-C5FB56E1AD05}"/>
              </a:ext>
            </a:extLst>
          </p:cNvPr>
          <p:cNvSpPr txBox="1"/>
          <p:nvPr/>
        </p:nvSpPr>
        <p:spPr>
          <a:xfrm>
            <a:off x="5580112" y="1877923"/>
            <a:ext cx="1944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(.NET Services)</a:t>
            </a:r>
          </a:p>
          <a:p>
            <a:r>
              <a:rPr lang="en-US" sz="1600" dirty="0"/>
              <a:t>Entity Framework</a:t>
            </a:r>
          </a:p>
          <a:p>
            <a:r>
              <a:rPr lang="en-US" sz="1600" dirty="0"/>
              <a:t>ADO.NET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00E-349E-0020-5822-90BC1E5F2869}"/>
              </a:ext>
            </a:extLst>
          </p:cNvPr>
          <p:cNvSpPr txBox="1"/>
          <p:nvPr/>
        </p:nvSpPr>
        <p:spPr>
          <a:xfrm>
            <a:off x="5584053" y="3852337"/>
            <a:ext cx="19402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(Springboot services)</a:t>
            </a:r>
          </a:p>
          <a:p>
            <a:r>
              <a:rPr lang="en-US" sz="1600" dirty="0"/>
              <a:t>JPA, Hibernate, JDBC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F8ED4-F806-EA19-7B84-1646F7871033}"/>
              </a:ext>
            </a:extLst>
          </p:cNvPr>
          <p:cNvSpPr txBox="1"/>
          <p:nvPr/>
        </p:nvSpPr>
        <p:spPr>
          <a:xfrm>
            <a:off x="7596336" y="1196752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/>
              <a:t>DB Tier</a:t>
            </a:r>
            <a:endParaRPr lang="en-IN" sz="1600" i="1" u="sng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10A248-EBD0-9589-5D88-8DB61EDD92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5F1B7F-F5CF-6AEA-BCEC-242D0FC0E370}"/>
              </a:ext>
            </a:extLst>
          </p:cNvPr>
          <p:cNvCxnSpPr>
            <a:cxnSpLocks/>
          </p:cNvCxnSpPr>
          <p:nvPr/>
        </p:nvCxnSpPr>
        <p:spPr>
          <a:xfrm>
            <a:off x="5508104" y="2708920"/>
            <a:ext cx="2095968" cy="338554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98A962-C6BD-0052-2B6F-D7424D3130B2}"/>
              </a:ext>
            </a:extLst>
          </p:cNvPr>
          <p:cNvCxnSpPr>
            <a:cxnSpLocks/>
          </p:cNvCxnSpPr>
          <p:nvPr/>
        </p:nvCxnSpPr>
        <p:spPr>
          <a:xfrm flipV="1">
            <a:off x="5508104" y="3370494"/>
            <a:ext cx="2095968" cy="338554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747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F31FD-12FE-46F0-A739-D4801CDA9B4A}"/>
              </a:ext>
            </a:extLst>
          </p:cNvPr>
          <p:cNvSpPr txBox="1"/>
          <p:nvPr/>
        </p:nvSpPr>
        <p:spPr>
          <a:xfrm>
            <a:off x="179512" y="260648"/>
            <a:ext cx="3622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 Front-end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A19C07-136F-AB98-90DB-A2F54F3A0469}"/>
              </a:ext>
            </a:extLst>
          </p:cNvPr>
          <p:cNvSpPr/>
          <p:nvPr/>
        </p:nvSpPr>
        <p:spPr>
          <a:xfrm>
            <a:off x="86911" y="1124744"/>
            <a:ext cx="5575921" cy="54726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112F7B-152D-F4FE-A206-C1337463D693}"/>
              </a:ext>
            </a:extLst>
          </p:cNvPr>
          <p:cNvSpPr/>
          <p:nvPr/>
        </p:nvSpPr>
        <p:spPr>
          <a:xfrm>
            <a:off x="5662832" y="1124744"/>
            <a:ext cx="1880665" cy="54726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938B8-B8AE-9B9B-B292-69F33C2944A7}"/>
              </a:ext>
            </a:extLst>
          </p:cNvPr>
          <p:cNvSpPr/>
          <p:nvPr/>
        </p:nvSpPr>
        <p:spPr>
          <a:xfrm>
            <a:off x="7555030" y="1124744"/>
            <a:ext cx="1481466" cy="54726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7CC48-B95A-1494-5243-C390450C1A3D}"/>
              </a:ext>
            </a:extLst>
          </p:cNvPr>
          <p:cNvSpPr txBox="1"/>
          <p:nvPr/>
        </p:nvSpPr>
        <p:spPr>
          <a:xfrm>
            <a:off x="467544" y="1146230"/>
            <a:ext cx="993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 dirty="0"/>
              <a:t>Front End</a:t>
            </a:r>
            <a:endParaRPr lang="en-IN" sz="1600" i="1" u="sng" dirty="0"/>
          </a:p>
        </p:txBody>
      </p:sp>
      <p:sp>
        <p:nvSpPr>
          <p:cNvPr id="7" name="Can 12">
            <a:extLst>
              <a:ext uri="{FF2B5EF4-FFF2-40B4-BE49-F238E27FC236}">
                <a16:creationId xmlns:a16="http://schemas.microsoft.com/office/drawing/2014/main" id="{0AA92C0A-657F-55A6-9BA0-F85E32F236D0}"/>
              </a:ext>
            </a:extLst>
          </p:cNvPr>
          <p:cNvSpPr/>
          <p:nvPr/>
        </p:nvSpPr>
        <p:spPr>
          <a:xfrm>
            <a:off x="7751064" y="3220960"/>
            <a:ext cx="1155860" cy="120744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MySQL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B69E0-B441-6086-2940-20BB6AE9F23E}"/>
              </a:ext>
            </a:extLst>
          </p:cNvPr>
          <p:cNvSpPr txBox="1"/>
          <p:nvPr/>
        </p:nvSpPr>
        <p:spPr>
          <a:xfrm>
            <a:off x="7859056" y="4572417"/>
            <a:ext cx="1033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B907AC"/>
                </a:solidFill>
              </a:rPr>
              <a:t>localhost: </a:t>
            </a:r>
          </a:p>
          <a:p>
            <a:r>
              <a:rPr lang="en-US" sz="1600" dirty="0">
                <a:solidFill>
                  <a:srgbClr val="B907AC"/>
                </a:solidFill>
              </a:rPr>
              <a:t>3306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58B20-9F13-BC0E-2019-7498DDC3F51B}"/>
              </a:ext>
            </a:extLst>
          </p:cNvPr>
          <p:cNvSpPr txBox="1"/>
          <p:nvPr/>
        </p:nvSpPr>
        <p:spPr>
          <a:xfrm>
            <a:off x="7812360" y="1196752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/>
              <a:t>DB Tier</a:t>
            </a:r>
            <a:endParaRPr lang="en-IN" sz="1600" i="1" u="sn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1088C5-DFB7-569B-B30F-56981533EBB9}"/>
              </a:ext>
            </a:extLst>
          </p:cNvPr>
          <p:cNvSpPr/>
          <p:nvPr/>
        </p:nvSpPr>
        <p:spPr>
          <a:xfrm>
            <a:off x="611560" y="1938536"/>
            <a:ext cx="108012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>
                    <a:lumMod val="75000"/>
                  </a:schemeClr>
                </a:solidFill>
              </a:rPr>
              <a:t>. Page</a:t>
            </a:r>
          </a:p>
          <a:p>
            <a:r>
              <a:rPr lang="en-US" sz="1400">
                <a:solidFill>
                  <a:schemeClr val="accent2">
                    <a:lumMod val="75000"/>
                  </a:schemeClr>
                </a:solidFill>
              </a:rPr>
              <a:t>. React component</a:t>
            </a:r>
            <a:endParaRPr lang="en-IN" sz="14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97D4C3-46EC-D822-7BE3-CEC3F9267FF5}"/>
              </a:ext>
            </a:extLst>
          </p:cNvPr>
          <p:cNvSpPr/>
          <p:nvPr/>
        </p:nvSpPr>
        <p:spPr>
          <a:xfrm>
            <a:off x="2161726" y="1933729"/>
            <a:ext cx="1152128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. Validation details  and Regex</a:t>
            </a:r>
            <a:endParaRPr lang="en-IN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CB90B8-E8AA-7B80-DD5D-B39FFF18B3A5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 flipV="1">
            <a:off x="1691680" y="2390929"/>
            <a:ext cx="470046" cy="4807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26">
            <a:extLst>
              <a:ext uri="{FF2B5EF4-FFF2-40B4-BE49-F238E27FC236}">
                <a16:creationId xmlns:a16="http://schemas.microsoft.com/office/drawing/2014/main" id="{C4702FA4-1E57-F0BB-D417-47F20CAF12DD}"/>
              </a:ext>
            </a:extLst>
          </p:cNvPr>
          <p:cNvCxnSpPr>
            <a:stCxn id="11" idx="0"/>
            <a:endCxn id="10" idx="0"/>
          </p:cNvCxnSpPr>
          <p:nvPr/>
        </p:nvCxnSpPr>
        <p:spPr>
          <a:xfrm rot="16200000" flipH="1" flipV="1">
            <a:off x="1942301" y="1143047"/>
            <a:ext cx="4807" cy="1586170"/>
          </a:xfrm>
          <a:prstGeom prst="bentConnector3">
            <a:avLst>
              <a:gd name="adj1" fmla="val -4755565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7523BA-40AA-9AD2-43FB-7C40B4734FED}"/>
              </a:ext>
            </a:extLst>
          </p:cNvPr>
          <p:cNvSpPr txBox="1"/>
          <p:nvPr/>
        </p:nvSpPr>
        <p:spPr>
          <a:xfrm>
            <a:off x="1521622" y="1366029"/>
            <a:ext cx="13637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Validation failed</a:t>
            </a:r>
            <a:endParaRPr lang="en-IN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30098A-2F9E-F37B-A8CB-25B969FEDAAE}"/>
              </a:ext>
            </a:extLst>
          </p:cNvPr>
          <p:cNvSpPr txBox="1"/>
          <p:nvPr/>
        </p:nvSpPr>
        <p:spPr>
          <a:xfrm>
            <a:off x="3083345" y="2876162"/>
            <a:ext cx="1694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Validation successful</a:t>
            </a:r>
            <a:endParaRPr lang="en-I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081412-7911-C33E-6129-F931B3765951}"/>
              </a:ext>
            </a:extLst>
          </p:cNvPr>
          <p:cNvSpPr/>
          <p:nvPr/>
        </p:nvSpPr>
        <p:spPr>
          <a:xfrm>
            <a:off x="2123728" y="3477036"/>
            <a:ext cx="1152128" cy="7440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Fetch API / Axio Library</a:t>
            </a:r>
            <a:endParaRPr lang="en-IN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4474DD-2B79-B0B1-3FA5-D792D30A8AF0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2699792" y="2852936"/>
            <a:ext cx="0" cy="62410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FA8816-7D56-CEAE-A813-569448A4B78B}"/>
              </a:ext>
            </a:extLst>
          </p:cNvPr>
          <p:cNvCxnSpPr>
            <a:cxnSpLocks/>
            <a:stCxn id="16" idx="3"/>
            <a:endCxn id="43" idx="1"/>
          </p:cNvCxnSpPr>
          <p:nvPr/>
        </p:nvCxnSpPr>
        <p:spPr>
          <a:xfrm flipV="1">
            <a:off x="3275856" y="3843491"/>
            <a:ext cx="2808312" cy="5571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3FBE2A-35B8-1BF8-C082-411CD8E7153C}"/>
              </a:ext>
            </a:extLst>
          </p:cNvPr>
          <p:cNvSpPr txBox="1"/>
          <p:nvPr/>
        </p:nvSpPr>
        <p:spPr>
          <a:xfrm>
            <a:off x="3721201" y="3193812"/>
            <a:ext cx="1570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Rest API End point:</a:t>
            </a:r>
          </a:p>
          <a:p>
            <a:r>
              <a:rPr lang="en-US" sz="1400" dirty="0"/>
              <a:t>/products/update</a:t>
            </a:r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E8FF85-C308-8004-9779-95EE30BF1904}"/>
              </a:ext>
            </a:extLst>
          </p:cNvPr>
          <p:cNvSpPr txBox="1"/>
          <p:nvPr/>
        </p:nvSpPr>
        <p:spPr>
          <a:xfrm>
            <a:off x="3733192" y="3914472"/>
            <a:ext cx="15588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GET</a:t>
            </a:r>
          </a:p>
          <a:p>
            <a:r>
              <a:rPr lang="en-US" sz="1400" dirty="0"/>
              <a:t>Product ID</a:t>
            </a:r>
          </a:p>
          <a:p>
            <a:r>
              <a:rPr lang="en-US" sz="1400" dirty="0"/>
              <a:t>Product Details </a:t>
            </a:r>
            <a:r>
              <a:rPr lang="en-US" sz="1400" dirty="0" err="1"/>
              <a:t>etc</a:t>
            </a:r>
            <a:endParaRPr lang="en-IN" sz="1400" dirty="0"/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B85CECA1-0519-2B13-185C-11D7686AC023}"/>
              </a:ext>
            </a:extLst>
          </p:cNvPr>
          <p:cNvSpPr/>
          <p:nvPr/>
        </p:nvSpPr>
        <p:spPr>
          <a:xfrm>
            <a:off x="1967576" y="4670485"/>
            <a:ext cx="1465312" cy="630723"/>
          </a:xfrm>
          <a:prstGeom prst="diamond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2">
                    <a:lumMod val="75000"/>
                  </a:schemeClr>
                </a:solidFill>
              </a:rPr>
              <a:t>Status</a:t>
            </a:r>
            <a:endParaRPr lang="en-IN" sz="160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28E971F-E56B-FC47-0B69-E8AD40D5F110}"/>
              </a:ext>
            </a:extLst>
          </p:cNvPr>
          <p:cNvCxnSpPr>
            <a:cxnSpLocks/>
            <a:stCxn id="16" idx="2"/>
            <a:endCxn id="21" idx="0"/>
          </p:cNvCxnSpPr>
          <p:nvPr/>
        </p:nvCxnSpPr>
        <p:spPr>
          <a:xfrm>
            <a:off x="2699792" y="4221087"/>
            <a:ext cx="440" cy="449398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68">
            <a:extLst>
              <a:ext uri="{FF2B5EF4-FFF2-40B4-BE49-F238E27FC236}">
                <a16:creationId xmlns:a16="http://schemas.microsoft.com/office/drawing/2014/main" id="{D21D4A55-0D58-ED3A-6363-5D388F591D18}"/>
              </a:ext>
            </a:extLst>
          </p:cNvPr>
          <p:cNvCxnSpPr>
            <a:cxnSpLocks/>
            <a:stCxn id="21" idx="2"/>
          </p:cNvCxnSpPr>
          <p:nvPr/>
        </p:nvCxnSpPr>
        <p:spPr>
          <a:xfrm rot="5400000">
            <a:off x="1420653" y="4669701"/>
            <a:ext cx="648072" cy="1911087"/>
          </a:xfrm>
          <a:prstGeom prst="bentConnector2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75">
            <a:extLst>
              <a:ext uri="{FF2B5EF4-FFF2-40B4-BE49-F238E27FC236}">
                <a16:creationId xmlns:a16="http://schemas.microsoft.com/office/drawing/2014/main" id="{D9E74DC8-5C04-517A-22C9-2DE328BEC3F8}"/>
              </a:ext>
            </a:extLst>
          </p:cNvPr>
          <p:cNvCxnSpPr>
            <a:cxnSpLocks/>
            <a:stCxn id="21" idx="1"/>
          </p:cNvCxnSpPr>
          <p:nvPr/>
        </p:nvCxnSpPr>
        <p:spPr>
          <a:xfrm rot="10800000">
            <a:off x="887456" y="2848129"/>
            <a:ext cx="1080120" cy="2137718"/>
          </a:xfrm>
          <a:prstGeom prst="bentConnector2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04D2CA-FF01-7593-CC33-F991F4197304}"/>
              </a:ext>
            </a:extLst>
          </p:cNvPr>
          <p:cNvSpPr txBox="1"/>
          <p:nvPr/>
        </p:nvSpPr>
        <p:spPr>
          <a:xfrm>
            <a:off x="899592" y="4293096"/>
            <a:ext cx="1225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Error message</a:t>
            </a:r>
            <a:endParaRPr lang="en-IN" sz="1400" dirty="0"/>
          </a:p>
        </p:txBody>
      </p:sp>
      <p:cxnSp>
        <p:nvCxnSpPr>
          <p:cNvPr id="26" name="Elbow Connector 88">
            <a:extLst>
              <a:ext uri="{FF2B5EF4-FFF2-40B4-BE49-F238E27FC236}">
                <a16:creationId xmlns:a16="http://schemas.microsoft.com/office/drawing/2014/main" id="{33BE51E2-DD13-AB00-BD14-97E545D7670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432888" y="4985847"/>
            <a:ext cx="995096" cy="747409"/>
          </a:xfrm>
          <a:prstGeom prst="bentConnector3">
            <a:avLst>
              <a:gd name="adj1" fmla="val -392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4C63EC8-1200-D377-7FF9-6C5C5205A151}"/>
              </a:ext>
            </a:extLst>
          </p:cNvPr>
          <p:cNvSpPr txBox="1"/>
          <p:nvPr/>
        </p:nvSpPr>
        <p:spPr>
          <a:xfrm>
            <a:off x="3419872" y="4941168"/>
            <a:ext cx="1937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Un-handled exceptions</a:t>
            </a:r>
          </a:p>
          <a:p>
            <a:r>
              <a:rPr lang="en-US" sz="1400"/>
              <a:t> and errors</a:t>
            </a:r>
            <a:endParaRPr lang="en-IN" sz="14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7A5112-BAF4-3401-9A14-3370C46DB77C}"/>
              </a:ext>
            </a:extLst>
          </p:cNvPr>
          <p:cNvSpPr/>
          <p:nvPr/>
        </p:nvSpPr>
        <p:spPr>
          <a:xfrm>
            <a:off x="4427983" y="5497487"/>
            <a:ext cx="946375" cy="5958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accent2">
                    <a:lumMod val="75000"/>
                  </a:schemeClr>
                </a:solidFill>
              </a:rPr>
              <a:t>Error page</a:t>
            </a:r>
            <a:endParaRPr lang="en-IN" sz="140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1FB2541-45E4-553D-937D-C456870E5C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3ADE957-1364-EB2C-733A-2C799BC2D9CE}"/>
              </a:ext>
            </a:extLst>
          </p:cNvPr>
          <p:cNvSpPr txBox="1"/>
          <p:nvPr/>
        </p:nvSpPr>
        <p:spPr>
          <a:xfrm>
            <a:off x="251520" y="5354052"/>
            <a:ext cx="2034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Show result or </a:t>
            </a:r>
          </a:p>
          <a:p>
            <a:r>
              <a:rPr lang="en-US" sz="1400" dirty="0"/>
              <a:t>Navigate to another page</a:t>
            </a:r>
            <a:endParaRPr lang="en-IN" sz="14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14BE6A-C67D-8D91-FBA0-AC2E660C1D75}"/>
              </a:ext>
            </a:extLst>
          </p:cNvPr>
          <p:cNvCxnSpPr/>
          <p:nvPr/>
        </p:nvCxnSpPr>
        <p:spPr>
          <a:xfrm flipV="1">
            <a:off x="141514" y="2370058"/>
            <a:ext cx="470046" cy="4807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679745AC-A8F5-B729-D867-F874352090B3}"/>
              </a:ext>
            </a:extLst>
          </p:cNvPr>
          <p:cNvSpPr/>
          <p:nvPr/>
        </p:nvSpPr>
        <p:spPr>
          <a:xfrm>
            <a:off x="179512" y="2442381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868027E-EF51-E40A-853A-3DBD044584EE}"/>
              </a:ext>
            </a:extLst>
          </p:cNvPr>
          <p:cNvSpPr/>
          <p:nvPr/>
        </p:nvSpPr>
        <p:spPr>
          <a:xfrm>
            <a:off x="1748940" y="2442381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30C1E2-1A4D-37FB-0987-0C6C92F7CA86}"/>
              </a:ext>
            </a:extLst>
          </p:cNvPr>
          <p:cNvSpPr/>
          <p:nvPr/>
        </p:nvSpPr>
        <p:spPr>
          <a:xfrm>
            <a:off x="2843808" y="1506277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AF24332-1E2D-518C-5AFC-8EFB79448740}"/>
              </a:ext>
            </a:extLst>
          </p:cNvPr>
          <p:cNvSpPr/>
          <p:nvPr/>
        </p:nvSpPr>
        <p:spPr>
          <a:xfrm>
            <a:off x="2771800" y="3018445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1F383E2-8654-C2D9-B8FC-69209D80232C}"/>
              </a:ext>
            </a:extLst>
          </p:cNvPr>
          <p:cNvSpPr/>
          <p:nvPr/>
        </p:nvSpPr>
        <p:spPr>
          <a:xfrm>
            <a:off x="3347864" y="3284984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1525EF8-3D6B-0B8F-7FBB-4B574266BF05}"/>
              </a:ext>
            </a:extLst>
          </p:cNvPr>
          <p:cNvSpPr/>
          <p:nvPr/>
        </p:nvSpPr>
        <p:spPr>
          <a:xfrm>
            <a:off x="3333116" y="4026557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0076F3-5427-BE63-54E5-34A6F80A5785}"/>
              </a:ext>
            </a:extLst>
          </p:cNvPr>
          <p:cNvSpPr/>
          <p:nvPr/>
        </p:nvSpPr>
        <p:spPr>
          <a:xfrm>
            <a:off x="2843808" y="4314589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AD372F7-686F-5A0A-CC57-D192A0F44ABC}"/>
              </a:ext>
            </a:extLst>
          </p:cNvPr>
          <p:cNvSpPr/>
          <p:nvPr/>
        </p:nvSpPr>
        <p:spPr>
          <a:xfrm>
            <a:off x="2267744" y="5445224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8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CFAA89B-93E4-3226-8327-4B7E528FB01D}"/>
              </a:ext>
            </a:extLst>
          </p:cNvPr>
          <p:cNvSpPr/>
          <p:nvPr/>
        </p:nvSpPr>
        <p:spPr>
          <a:xfrm>
            <a:off x="1187624" y="4535543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7EF1EA9-567F-5E19-082D-C85B95A2FC52}"/>
              </a:ext>
            </a:extLst>
          </p:cNvPr>
          <p:cNvSpPr/>
          <p:nvPr/>
        </p:nvSpPr>
        <p:spPr>
          <a:xfrm>
            <a:off x="3707904" y="5807593"/>
            <a:ext cx="587721" cy="429719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1E5AF3-9940-CBC7-BB41-66DAC1327C0B}"/>
              </a:ext>
            </a:extLst>
          </p:cNvPr>
          <p:cNvSpPr txBox="1"/>
          <p:nvPr/>
        </p:nvSpPr>
        <p:spPr>
          <a:xfrm>
            <a:off x="5724128" y="1146230"/>
            <a:ext cx="16289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 dirty="0"/>
              <a:t>Middle tier using </a:t>
            </a:r>
          </a:p>
          <a:p>
            <a:r>
              <a:rPr lang="en-US" sz="1600" i="1" u="sng" dirty="0"/>
              <a:t>Microservices</a:t>
            </a:r>
            <a:endParaRPr lang="en-IN" sz="1600" i="1" u="sng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E620D7-B632-FB9E-AE8D-0FB8C47F1486}"/>
              </a:ext>
            </a:extLst>
          </p:cNvPr>
          <p:cNvSpPr/>
          <p:nvPr/>
        </p:nvSpPr>
        <p:spPr>
          <a:xfrm>
            <a:off x="6084168" y="3430111"/>
            <a:ext cx="1152127" cy="826760"/>
          </a:xfrm>
          <a:prstGeom prst="rect">
            <a:avLst/>
          </a:prstGeom>
          <a:solidFill>
            <a:srgbClr val="FBF8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API Gateway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C9CDF49-5A39-B5D4-93C3-A47548394FDF}"/>
              </a:ext>
            </a:extLst>
          </p:cNvPr>
          <p:cNvSpPr txBox="1"/>
          <p:nvPr/>
        </p:nvSpPr>
        <p:spPr>
          <a:xfrm>
            <a:off x="6013013" y="4256871"/>
            <a:ext cx="129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907AC"/>
                </a:solidFill>
              </a:rPr>
              <a:t>localhost: 8080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D15028-27A4-9D43-DF4A-BFC909ABB2B8}"/>
              </a:ext>
            </a:extLst>
          </p:cNvPr>
          <p:cNvSpPr txBox="1"/>
          <p:nvPr/>
        </p:nvSpPr>
        <p:spPr>
          <a:xfrm>
            <a:off x="413017" y="6145559"/>
            <a:ext cx="2646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5">
                    <a:lumMod val="50000"/>
                  </a:schemeClr>
                </a:solidFill>
              </a:rPr>
              <a:t>KNOW-IT, C-DAC ACTS (ATC), Pune</a:t>
            </a:r>
          </a:p>
        </p:txBody>
      </p:sp>
    </p:spTree>
    <p:extLst>
      <p:ext uri="{BB962C8B-B14F-4D97-AF65-F5344CB8AC3E}">
        <p14:creationId xmlns:p14="http://schemas.microsoft.com/office/powerpoint/2010/main" val="18506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3DA15B-B51B-2C76-2723-5809313603F8}"/>
              </a:ext>
            </a:extLst>
          </p:cNvPr>
          <p:cNvSpPr txBox="1"/>
          <p:nvPr/>
        </p:nvSpPr>
        <p:spPr>
          <a:xfrm>
            <a:off x="72008" y="260648"/>
            <a:ext cx="66761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/>
              <a:t>Microservices Architecture and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435A9D-F70F-70F6-D91C-20E9613E08A0}"/>
              </a:ext>
            </a:extLst>
          </p:cNvPr>
          <p:cNvSpPr/>
          <p:nvPr/>
        </p:nvSpPr>
        <p:spPr>
          <a:xfrm>
            <a:off x="144016" y="1124744"/>
            <a:ext cx="8892480" cy="55446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3FBBA-E70A-64DC-1E62-85504AB36C44}"/>
              </a:ext>
            </a:extLst>
          </p:cNvPr>
          <p:cNvSpPr txBox="1"/>
          <p:nvPr/>
        </p:nvSpPr>
        <p:spPr>
          <a:xfrm>
            <a:off x="2037031" y="1149438"/>
            <a:ext cx="27917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u="sng" dirty="0"/>
              <a:t>Middle Tier using Microservices</a:t>
            </a:r>
            <a:endParaRPr lang="en-IN" sz="1600" i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8A735-D7D3-AB52-7CD0-E6B7FBA770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888" y="20229"/>
            <a:ext cx="976685" cy="8884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54F209-9D7D-C07B-3CCD-20C922DD2408}"/>
              </a:ext>
            </a:extLst>
          </p:cNvPr>
          <p:cNvSpPr/>
          <p:nvPr/>
        </p:nvSpPr>
        <p:spPr>
          <a:xfrm>
            <a:off x="7344816" y="2924944"/>
            <a:ext cx="1008112" cy="720080"/>
          </a:xfrm>
          <a:prstGeom prst="rect">
            <a:avLst/>
          </a:prstGeom>
          <a:solidFill>
            <a:srgbClr val="F4E3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accent2">
                    <a:lumMod val="75000"/>
                  </a:schemeClr>
                </a:solidFill>
              </a:rPr>
              <a:t>Service A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7A19E-5133-05A6-3E14-C67C68A92758}"/>
              </a:ext>
            </a:extLst>
          </p:cNvPr>
          <p:cNvSpPr/>
          <p:nvPr/>
        </p:nvSpPr>
        <p:spPr>
          <a:xfrm>
            <a:off x="4968552" y="1700808"/>
            <a:ext cx="1152128" cy="7920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Discovery service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C51B53-A8B6-7D04-A69D-08B79DEB5D97}"/>
              </a:ext>
            </a:extLst>
          </p:cNvPr>
          <p:cNvSpPr/>
          <p:nvPr/>
        </p:nvSpPr>
        <p:spPr>
          <a:xfrm>
            <a:off x="2808312" y="3466336"/>
            <a:ext cx="1152127" cy="826760"/>
          </a:xfrm>
          <a:prstGeom prst="rect">
            <a:avLst/>
          </a:prstGeom>
          <a:solidFill>
            <a:srgbClr val="FBF8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API Gateway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E4D1C5-3F4B-B5AF-5080-F4E0EB6D9518}"/>
              </a:ext>
            </a:extLst>
          </p:cNvPr>
          <p:cNvSpPr/>
          <p:nvPr/>
        </p:nvSpPr>
        <p:spPr>
          <a:xfrm>
            <a:off x="144015" y="1124744"/>
            <a:ext cx="1893015" cy="55446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60F274-DA1B-F561-24D0-C0331E97F35F}"/>
              </a:ext>
            </a:extLst>
          </p:cNvPr>
          <p:cNvSpPr/>
          <p:nvPr/>
        </p:nvSpPr>
        <p:spPr>
          <a:xfrm>
            <a:off x="7344816" y="4005064"/>
            <a:ext cx="1008112" cy="720080"/>
          </a:xfrm>
          <a:prstGeom prst="rect">
            <a:avLst/>
          </a:prstGeom>
          <a:solidFill>
            <a:srgbClr val="F4E3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Service B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746424-ED71-739B-17F2-295C464FB4C1}"/>
              </a:ext>
            </a:extLst>
          </p:cNvPr>
          <p:cNvSpPr/>
          <p:nvPr/>
        </p:nvSpPr>
        <p:spPr>
          <a:xfrm>
            <a:off x="7344816" y="5085184"/>
            <a:ext cx="1008112" cy="720080"/>
          </a:xfrm>
          <a:prstGeom prst="rect">
            <a:avLst/>
          </a:prstGeom>
          <a:solidFill>
            <a:srgbClr val="F4E3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Service C</a:t>
            </a:r>
            <a:endParaRPr lang="en-IN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400EB-F698-2AEC-4844-6A27CF37D64E}"/>
              </a:ext>
            </a:extLst>
          </p:cNvPr>
          <p:cNvSpPr/>
          <p:nvPr/>
        </p:nvSpPr>
        <p:spPr>
          <a:xfrm>
            <a:off x="387783" y="3429000"/>
            <a:ext cx="1152128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</a:rPr>
              <a:t>Fetch API / Axio Library</a:t>
            </a:r>
            <a:endParaRPr lang="en-IN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E50BE6-971B-BCA4-4BE2-E45D5A2ED08E}"/>
              </a:ext>
            </a:extLst>
          </p:cNvPr>
          <p:cNvCxnSpPr>
            <a:cxnSpLocks/>
          </p:cNvCxnSpPr>
          <p:nvPr/>
        </p:nvCxnSpPr>
        <p:spPr>
          <a:xfrm>
            <a:off x="1539911" y="3645024"/>
            <a:ext cx="1268401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C3D279-57B2-EAE8-A7AC-28A0C2961039}"/>
              </a:ext>
            </a:extLst>
          </p:cNvPr>
          <p:cNvCxnSpPr>
            <a:cxnSpLocks/>
          </p:cNvCxnSpPr>
          <p:nvPr/>
        </p:nvCxnSpPr>
        <p:spPr>
          <a:xfrm flipH="1">
            <a:off x="1539911" y="4077072"/>
            <a:ext cx="1268401" cy="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BDD4A3-8330-FA83-EECB-27E9F7BBB5C2}"/>
              </a:ext>
            </a:extLst>
          </p:cNvPr>
          <p:cNvCxnSpPr>
            <a:cxnSpLocks/>
          </p:cNvCxnSpPr>
          <p:nvPr/>
        </p:nvCxnSpPr>
        <p:spPr>
          <a:xfrm flipH="1" flipV="1">
            <a:off x="5904656" y="2492896"/>
            <a:ext cx="1440160" cy="973440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630738-4F8F-D8C6-FD33-D2CB8C51367A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688632" y="2492896"/>
            <a:ext cx="1656184" cy="1872208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940684-58D2-3D1B-54CB-78685989C12D}"/>
              </a:ext>
            </a:extLst>
          </p:cNvPr>
          <p:cNvCxnSpPr>
            <a:cxnSpLocks/>
          </p:cNvCxnSpPr>
          <p:nvPr/>
        </p:nvCxnSpPr>
        <p:spPr>
          <a:xfrm flipH="1" flipV="1">
            <a:off x="5472608" y="2492896"/>
            <a:ext cx="1872208" cy="2664296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F85E70-3B1F-0D66-B9B1-5E437BC6B3B1}"/>
              </a:ext>
            </a:extLst>
          </p:cNvPr>
          <p:cNvCxnSpPr>
            <a:cxnSpLocks/>
          </p:cNvCxnSpPr>
          <p:nvPr/>
        </p:nvCxnSpPr>
        <p:spPr>
          <a:xfrm flipV="1">
            <a:off x="3960439" y="2492896"/>
            <a:ext cx="1296145" cy="1152128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88">
            <a:extLst>
              <a:ext uri="{FF2B5EF4-FFF2-40B4-BE49-F238E27FC236}">
                <a16:creationId xmlns:a16="http://schemas.microsoft.com/office/drawing/2014/main" id="{5EF09B18-CFA4-9D81-5C0C-32DD48E9ED9A}"/>
              </a:ext>
            </a:extLst>
          </p:cNvPr>
          <p:cNvCxnSpPr>
            <a:cxnSpLocks/>
          </p:cNvCxnSpPr>
          <p:nvPr/>
        </p:nvCxnSpPr>
        <p:spPr>
          <a:xfrm flipV="1">
            <a:off x="3024336" y="1916832"/>
            <a:ext cx="1944216" cy="1549504"/>
          </a:xfrm>
          <a:prstGeom prst="bentConnector3">
            <a:avLst>
              <a:gd name="adj1" fmla="val -3100"/>
            </a:avLst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88">
            <a:extLst>
              <a:ext uri="{FF2B5EF4-FFF2-40B4-BE49-F238E27FC236}">
                <a16:creationId xmlns:a16="http://schemas.microsoft.com/office/drawing/2014/main" id="{FF0CCD1C-A379-A010-CA52-D93181F3F68C}"/>
              </a:ext>
            </a:extLst>
          </p:cNvPr>
          <p:cNvCxnSpPr>
            <a:cxnSpLocks/>
            <a:endCxn id="8" idx="0"/>
          </p:cNvCxnSpPr>
          <p:nvPr/>
        </p:nvCxnSpPr>
        <p:spPr>
          <a:xfrm rot="10800000" flipV="1">
            <a:off x="3384376" y="2276872"/>
            <a:ext cx="1584176" cy="1189464"/>
          </a:xfrm>
          <a:prstGeom prst="bentConnector2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E4586B-D368-1509-2637-FE068A0DD13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3960439" y="3879716"/>
            <a:ext cx="3384377" cy="1565508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5AE9960-B7FE-D2E9-F7F3-995761CEB0FC}"/>
              </a:ext>
            </a:extLst>
          </p:cNvPr>
          <p:cNvCxnSpPr>
            <a:cxnSpLocks/>
          </p:cNvCxnSpPr>
          <p:nvPr/>
        </p:nvCxnSpPr>
        <p:spPr>
          <a:xfrm flipH="1" flipV="1">
            <a:off x="3960439" y="4221088"/>
            <a:ext cx="3384377" cy="1512168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86FABD5-7558-B4E8-0A66-514B36A531E4}"/>
              </a:ext>
            </a:extLst>
          </p:cNvPr>
          <p:cNvSpPr/>
          <p:nvPr/>
        </p:nvSpPr>
        <p:spPr>
          <a:xfrm>
            <a:off x="2160240" y="3234469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4473AC8-763E-3782-0806-56854E42F70D}"/>
              </a:ext>
            </a:extLst>
          </p:cNvPr>
          <p:cNvSpPr/>
          <p:nvPr/>
        </p:nvSpPr>
        <p:spPr>
          <a:xfrm>
            <a:off x="2520280" y="2348880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83308BF-8ED4-51FC-8DBF-4FB479E50976}"/>
              </a:ext>
            </a:extLst>
          </p:cNvPr>
          <p:cNvSpPr/>
          <p:nvPr/>
        </p:nvSpPr>
        <p:spPr>
          <a:xfrm>
            <a:off x="3443368" y="2730413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734DBA0-B44C-20D9-BFDD-4B84D3EA63CE}"/>
              </a:ext>
            </a:extLst>
          </p:cNvPr>
          <p:cNvSpPr/>
          <p:nvPr/>
        </p:nvSpPr>
        <p:spPr>
          <a:xfrm>
            <a:off x="5832648" y="4386597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C1BB34-6D37-04CC-3DAC-E3546495B995}"/>
              </a:ext>
            </a:extLst>
          </p:cNvPr>
          <p:cNvSpPr/>
          <p:nvPr/>
        </p:nvSpPr>
        <p:spPr>
          <a:xfrm>
            <a:off x="5472608" y="5106677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08F18C7-7220-1DAB-6E98-E151DB1965EC}"/>
              </a:ext>
            </a:extLst>
          </p:cNvPr>
          <p:cNvSpPr/>
          <p:nvPr/>
        </p:nvSpPr>
        <p:spPr>
          <a:xfrm>
            <a:off x="2160240" y="4170573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6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3CC3EBE-9209-1A8E-9D10-CD72B963D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080739"/>
              </p:ext>
            </p:extLst>
          </p:nvPr>
        </p:nvGraphicFramePr>
        <p:xfrm>
          <a:off x="201956" y="5072168"/>
          <a:ext cx="47371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929">
                  <a:extLst>
                    <a:ext uri="{9D8B030D-6E8A-4147-A177-3AD203B41FA5}">
                      <a16:colId xmlns:a16="http://schemas.microsoft.com/office/drawing/2014/main" val="3896733807"/>
                    </a:ext>
                  </a:extLst>
                </a:gridCol>
                <a:gridCol w="4404171">
                  <a:extLst>
                    <a:ext uri="{9D8B030D-6E8A-4147-A177-3AD203B41FA5}">
                      <a16:colId xmlns:a16="http://schemas.microsoft.com/office/drawing/2014/main" val="422480205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Actions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50843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All services and API gateway registers themselves with Discovery server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499104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Request from client to API Gateway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6863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API gateway queries Discovery service for service 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2463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API gateway received response from Discovery service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90651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API Gateway forwards request to appriate service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95801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API Gateway received response from service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768334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Response sent to client by API gateway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7825732"/>
                  </a:ext>
                </a:extLst>
              </a:tr>
            </a:tbl>
          </a:graphicData>
        </a:graphic>
      </p:graphicFrame>
      <p:sp>
        <p:nvSpPr>
          <p:cNvPr id="30" name="Oval 29">
            <a:extLst>
              <a:ext uri="{FF2B5EF4-FFF2-40B4-BE49-F238E27FC236}">
                <a16:creationId xmlns:a16="http://schemas.microsoft.com/office/drawing/2014/main" id="{19FB1994-FC18-89DC-035C-CB3914284490}"/>
              </a:ext>
            </a:extLst>
          </p:cNvPr>
          <p:cNvSpPr/>
          <p:nvPr/>
        </p:nvSpPr>
        <p:spPr>
          <a:xfrm>
            <a:off x="6624736" y="2640222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34E52F8-4699-8B7E-CBC1-6F42236E0FCA}"/>
              </a:ext>
            </a:extLst>
          </p:cNvPr>
          <p:cNvSpPr/>
          <p:nvPr/>
        </p:nvSpPr>
        <p:spPr>
          <a:xfrm>
            <a:off x="6696744" y="3306477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310D268-0E80-4683-3471-99B761F3D2AA}"/>
              </a:ext>
            </a:extLst>
          </p:cNvPr>
          <p:cNvSpPr/>
          <p:nvPr/>
        </p:nvSpPr>
        <p:spPr>
          <a:xfrm>
            <a:off x="5745892" y="3356992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A08D616-F4D9-E56A-7187-1165C6766277}"/>
              </a:ext>
            </a:extLst>
          </p:cNvPr>
          <p:cNvSpPr/>
          <p:nvPr/>
        </p:nvSpPr>
        <p:spPr>
          <a:xfrm>
            <a:off x="4407236" y="3212976"/>
            <a:ext cx="360040" cy="338547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B9317F-0BDE-17C3-48C5-D822067F164B}"/>
              </a:ext>
            </a:extLst>
          </p:cNvPr>
          <p:cNvSpPr txBox="1"/>
          <p:nvPr/>
        </p:nvSpPr>
        <p:spPr>
          <a:xfrm>
            <a:off x="2737157" y="4293096"/>
            <a:ext cx="129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907AC"/>
                </a:solidFill>
              </a:rPr>
              <a:t>localhost: 8080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66A11A1-A4E3-333C-0F62-2DA739B5D242}"/>
              </a:ext>
            </a:extLst>
          </p:cNvPr>
          <p:cNvSpPr txBox="1"/>
          <p:nvPr/>
        </p:nvSpPr>
        <p:spPr>
          <a:xfrm>
            <a:off x="4896544" y="1393031"/>
            <a:ext cx="129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907AC"/>
                </a:solidFill>
              </a:rPr>
              <a:t>localhost: 8081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C1F1C9-5A0D-D4C1-15A4-02C187681D5D}"/>
              </a:ext>
            </a:extLst>
          </p:cNvPr>
          <p:cNvSpPr txBox="1"/>
          <p:nvPr/>
        </p:nvSpPr>
        <p:spPr>
          <a:xfrm>
            <a:off x="7273661" y="2617167"/>
            <a:ext cx="129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907AC"/>
                </a:solidFill>
              </a:rPr>
              <a:t>localhost: 8082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C4F62E-0D53-6F77-7961-64467BB9866A}"/>
              </a:ext>
            </a:extLst>
          </p:cNvPr>
          <p:cNvSpPr txBox="1"/>
          <p:nvPr/>
        </p:nvSpPr>
        <p:spPr>
          <a:xfrm>
            <a:off x="7273661" y="3697287"/>
            <a:ext cx="129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907AC"/>
                </a:solidFill>
              </a:rPr>
              <a:t>localhost: 8083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9B139F-9E8D-D093-2F1D-9B29D151448D}"/>
              </a:ext>
            </a:extLst>
          </p:cNvPr>
          <p:cNvSpPr txBox="1"/>
          <p:nvPr/>
        </p:nvSpPr>
        <p:spPr>
          <a:xfrm>
            <a:off x="7272808" y="4777407"/>
            <a:ext cx="129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907AC"/>
                </a:solidFill>
              </a:rPr>
              <a:t>localhost: 8084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136E10-6A51-27C2-0F3D-F1FB7A4A97E7}"/>
              </a:ext>
            </a:extLst>
          </p:cNvPr>
          <p:cNvSpPr txBox="1"/>
          <p:nvPr/>
        </p:nvSpPr>
        <p:spPr>
          <a:xfrm>
            <a:off x="279743" y="3074948"/>
            <a:ext cx="1295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B907AC"/>
                </a:solidFill>
              </a:rPr>
              <a:t>localhost: 3000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5B080F-9520-1410-0E70-AB356DFE8B41}"/>
              </a:ext>
            </a:extLst>
          </p:cNvPr>
          <p:cNvSpPr txBox="1"/>
          <p:nvPr/>
        </p:nvSpPr>
        <p:spPr>
          <a:xfrm>
            <a:off x="5112568" y="6217567"/>
            <a:ext cx="2646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accent5">
                    <a:lumMod val="50000"/>
                  </a:schemeClr>
                </a:solidFill>
              </a:rPr>
              <a:t>KNOW-IT, C-DAC ACTS (ATC), Pune</a:t>
            </a:r>
          </a:p>
        </p:txBody>
      </p:sp>
    </p:spTree>
    <p:extLst>
      <p:ext uri="{BB962C8B-B14F-4D97-AF65-F5344CB8AC3E}">
        <p14:creationId xmlns:p14="http://schemas.microsoft.com/office/powerpoint/2010/main" val="3882021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Methodology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996" y="978371"/>
            <a:ext cx="9328796" cy="4525963"/>
          </a:xfrm>
        </p:spPr>
        <p:txBody>
          <a:bodyPr>
            <a:noAutofit/>
          </a:bodyPr>
          <a:lstStyle/>
          <a:p>
            <a:r>
              <a:rPr lang="en-IN" sz="2400" dirty="0"/>
              <a:t>Followed the </a:t>
            </a:r>
            <a:r>
              <a:rPr lang="en-IN" sz="2400" b="1" dirty="0"/>
              <a:t>Software Development Life Cycle (SDLC)</a:t>
            </a:r>
            <a:r>
              <a:rPr lang="en-IN" sz="2400" dirty="0"/>
              <a:t> approach</a:t>
            </a:r>
          </a:p>
          <a:p>
            <a:r>
              <a:rPr lang="en-IN" sz="2400" dirty="0"/>
              <a:t>Started with </a:t>
            </a:r>
            <a:r>
              <a:rPr lang="en-IN" sz="2400" b="1" dirty="0"/>
              <a:t>requirement gathering and analysis</a:t>
            </a:r>
            <a:endParaRPr lang="en-IN" sz="2400" dirty="0"/>
          </a:p>
          <a:p>
            <a:r>
              <a:rPr lang="en-IN" sz="2400" dirty="0"/>
              <a:t>Prepared </a:t>
            </a:r>
            <a:r>
              <a:rPr lang="en-IN" sz="2400" b="1" dirty="0"/>
              <a:t>problem statement and system objectives</a:t>
            </a:r>
            <a:endParaRPr lang="en-IN" sz="2400" dirty="0"/>
          </a:p>
          <a:p>
            <a:r>
              <a:rPr lang="en-IN" sz="2400" dirty="0"/>
              <a:t>Designed </a:t>
            </a:r>
            <a:r>
              <a:rPr lang="en-IN" sz="2400" b="1" dirty="0"/>
              <a:t>system architecture</a:t>
            </a:r>
            <a:r>
              <a:rPr lang="en-IN" sz="2400" dirty="0"/>
              <a:t> using microservices approach</a:t>
            </a:r>
          </a:p>
          <a:p>
            <a:r>
              <a:rPr lang="en-IN" sz="2400" dirty="0"/>
              <a:t>Created </a:t>
            </a:r>
            <a:r>
              <a:rPr lang="en-IN" sz="2400" b="1" dirty="0"/>
              <a:t>database schema</a:t>
            </a:r>
            <a:r>
              <a:rPr lang="en-IN" sz="2400" dirty="0"/>
              <a:t> with proper normalization</a:t>
            </a:r>
          </a:p>
          <a:p>
            <a:r>
              <a:rPr lang="en-IN" sz="2400" dirty="0"/>
              <a:t>Developed backend services using </a:t>
            </a:r>
            <a:r>
              <a:rPr lang="en-IN" sz="2400" b="1" dirty="0"/>
              <a:t>Spring Boot</a:t>
            </a:r>
            <a:endParaRPr lang="en-IN" sz="2400" dirty="0"/>
          </a:p>
          <a:p>
            <a:r>
              <a:rPr lang="en-IN" sz="2400" dirty="0"/>
              <a:t>Implemented </a:t>
            </a:r>
            <a:r>
              <a:rPr lang="en-IN" sz="2400" b="1" dirty="0"/>
              <a:t>RESTful APIs</a:t>
            </a:r>
            <a:r>
              <a:rPr lang="en-IN" sz="2400" dirty="0"/>
              <a:t> for frontend–backend communication</a:t>
            </a:r>
          </a:p>
          <a:p>
            <a:r>
              <a:rPr lang="en-IN" sz="2400" dirty="0"/>
              <a:t>Developed frontend using </a:t>
            </a:r>
            <a:r>
              <a:rPr lang="en-IN" sz="2400" b="1" dirty="0"/>
              <a:t>React, HTML, CSS, and Bootstrap</a:t>
            </a:r>
            <a:endParaRPr lang="en-IN" sz="2400" dirty="0"/>
          </a:p>
          <a:p>
            <a:r>
              <a:rPr lang="en-IN" sz="2400" dirty="0"/>
              <a:t>Integrated frontend with backend using </a:t>
            </a:r>
            <a:r>
              <a:rPr lang="en-IN" sz="2400" b="1" dirty="0"/>
              <a:t>Axios / Fetch API</a:t>
            </a:r>
            <a:endParaRPr lang="en-IN" sz="2400" dirty="0"/>
          </a:p>
          <a:p>
            <a:r>
              <a:rPr lang="en-IN" sz="2400" dirty="0"/>
              <a:t>Implemented </a:t>
            </a:r>
            <a:r>
              <a:rPr lang="en-IN" sz="2400" b="1" dirty="0"/>
              <a:t>role-based access control</a:t>
            </a:r>
            <a:r>
              <a:rPr lang="en-IN" sz="2400" dirty="0"/>
              <a:t> </a:t>
            </a:r>
          </a:p>
          <a:p>
            <a:r>
              <a:rPr lang="en-IN" sz="2400" dirty="0"/>
              <a:t>Performed </a:t>
            </a:r>
            <a:r>
              <a:rPr lang="en-IN" sz="2400" b="1" dirty="0"/>
              <a:t>unit testing and API testing</a:t>
            </a:r>
            <a:r>
              <a:rPr lang="en-IN" sz="2400" dirty="0"/>
              <a:t> using Postman</a:t>
            </a:r>
          </a:p>
          <a:p>
            <a:r>
              <a:rPr lang="en-IN" sz="2400" dirty="0"/>
              <a:t>Fixed bugs and optimized performance iteratively</a:t>
            </a:r>
          </a:p>
          <a:p>
            <a:r>
              <a:rPr lang="en-IN" sz="2400" dirty="0"/>
              <a:t>Prepared </a:t>
            </a:r>
            <a:r>
              <a:rPr lang="en-IN" sz="2400" b="1" dirty="0"/>
              <a:t>documentation and final presentation</a:t>
            </a:r>
            <a:r>
              <a:rPr lang="en-IN" sz="2400" dirty="0"/>
              <a:t> for Tech Fest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64DB2-5F88-6B0F-B654-2A96CC5407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</a:t>
            </a:r>
          </a:p>
          <a:p>
            <a:r>
              <a:t>Backend: Spring Boot</a:t>
            </a:r>
          </a:p>
          <a:p>
            <a:r>
              <a:t>Database: MySQL</a:t>
            </a:r>
          </a:p>
          <a:p>
            <a:r>
              <a:t>Architecture: Microservices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AD558-EAB1-8113-51B0-7D84B71C27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Unit Testing</a:t>
            </a:r>
          </a:p>
          <a:p>
            <a:r>
              <a:t>• Integration Testing</a:t>
            </a:r>
          </a:p>
          <a:p>
            <a:r>
              <a:t>• API Testing</a:t>
            </a:r>
          </a:p>
          <a:p>
            <a:r>
              <a:t>• Manual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4CBA1E-863A-6DCF-A82B-F71288AFE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Mobile App</a:t>
            </a:r>
          </a:p>
          <a:p>
            <a:pPr marL="0" indent="0">
              <a:buNone/>
            </a:pPr>
            <a:r>
              <a:rPr dirty="0"/>
              <a:t>• Online Payments</a:t>
            </a:r>
          </a:p>
          <a:p>
            <a:pPr marL="0" indent="0">
              <a:buNone/>
            </a:pPr>
            <a:r>
              <a:rPr dirty="0"/>
              <a:t>• Analytics Dashboard</a:t>
            </a:r>
          </a:p>
          <a:p>
            <a:pPr marL="0" indent="0">
              <a:buNone/>
            </a:pPr>
            <a:r>
              <a:rPr dirty="0"/>
              <a:t>• AI-based Recommendations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995975-AD1C-1D88-AECE-794D9CBF620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System ensures efficient, secure, and scalable </a:t>
            </a:r>
            <a:r>
              <a:rPr lang="en-IN" dirty="0"/>
              <a:t>Travel </a:t>
            </a:r>
            <a:r>
              <a:rPr dirty="0"/>
              <a:t>management</a:t>
            </a:r>
            <a:r>
              <a:rPr lang="en-IN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E9CC01-7A59-8A90-CC44-C9C1F8081E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AB6E2-71DA-7C17-0EBF-28E9067D84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20229"/>
            <a:ext cx="976685" cy="9604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674</Words>
  <Application>Microsoft Office PowerPoint</Application>
  <PresentationFormat>On-screen Show (4:3)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TRAVEL BUDDY </vt:lpstr>
      <vt:lpstr>TECH FEST </vt:lpstr>
      <vt:lpstr>Abstract</vt:lpstr>
      <vt:lpstr>Problem Statement</vt:lpstr>
      <vt:lpstr>Project Overview </vt:lpstr>
      <vt:lpstr>Users &amp; Use cases</vt:lpstr>
      <vt:lpstr>PowerPoint Presentation</vt:lpstr>
      <vt:lpstr>System Architecture</vt:lpstr>
      <vt:lpstr>PowerPoint Presentation</vt:lpstr>
      <vt:lpstr>PowerPoint Presentation</vt:lpstr>
      <vt:lpstr>PowerPoint Presentation</vt:lpstr>
      <vt:lpstr>Project Methodology </vt:lpstr>
      <vt:lpstr>Architecture</vt:lpstr>
      <vt:lpstr>Testing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Anshul Tembhurne</dc:creator>
  <cp:keywords/>
  <dc:description>generated using python-pptx</dc:description>
  <cp:lastModifiedBy>sampadak0898@outlook.com</cp:lastModifiedBy>
  <cp:revision>14</cp:revision>
  <dcterms:created xsi:type="dcterms:W3CDTF">2013-01-27T09:14:16Z</dcterms:created>
  <dcterms:modified xsi:type="dcterms:W3CDTF">2026-02-02T21:32:34Z</dcterms:modified>
  <cp:category/>
</cp:coreProperties>
</file>